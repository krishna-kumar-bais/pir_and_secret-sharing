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2" dt="2026-10-06T15:51:09.207"/>
    <p1510:client id="{15665B54-F6C8-E922-2BB3-19DB0D04FEE1}" v="158" dt="2026-10-07T10:31:32.9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82296"/>
          </a:xfrm>
          <a:prstGeom prst="rect">
            <a:avLst/>
          </a:prstGeom>
          <a:solidFill>
            <a:srgbClr val="16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654296"/>
            <a:ext cx="12191695" cy="3657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6A08E"/>
                </a:solidFill>
                <a:latin typeface="Calibri"/>
              </a:rPr>
              <a:t>M.Tech PROJECT  • 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7899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A Comparative Study of PIR Protocols
Based on Secret Sharing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6A08E"/>
                </a:solidFill>
                <a:latin typeface="Calibri"/>
              </a:rPr>
              <a:t>PRESENTED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Krishna Kumar Bais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87568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F2F6FA"/>
                </a:solidFill>
                <a:latin typeface="Calibri"/>
              </a:rPr>
              <a:t>Roll No. 241110038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846320"/>
            <a:ext cx="512064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 b="1" dirty="0">
                <a:solidFill>
                  <a:srgbClr val="16A08E"/>
                </a:solidFill>
                <a:latin typeface="Calibri"/>
              </a:rPr>
              <a:t>SUPERVISED BY</a:t>
            </a:r>
            <a:endParaRPr sz="1300" b="1" i="0" dirty="0">
              <a:solidFill>
                <a:srgbClr val="16A08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52120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Prof. Adithya Vadapalli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687568"/>
            <a:ext cx="512064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600" b="0" i="0" dirty="0">
                <a:solidFill>
                  <a:srgbClr val="F2F6FA"/>
                </a:solidFill>
                <a:latin typeface="Calibri"/>
              </a:rPr>
              <a:t>Dept. of CSE, IIT Kanpur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16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78992"/>
            <a:ext cx="1463040" cy="38100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94960" cy="42062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72200" y="1554480"/>
            <a:ext cx="5394960" cy="42062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1">
                <a:solidFill>
                  <a:srgbClr val="1F6FB2"/>
                </a:solidFill>
                <a:latin typeface="Calibri"/>
              </a:rPr>
              <a:t>•  </a:t>
            </a:r>
            <a:r>
              <a:rPr sz="2000">
                <a:solidFill>
                  <a:srgbClr val="222A33"/>
                </a:solidFill>
                <a:latin typeface="Calibri"/>
              </a:rPr>
              <a:t>Motivation: why Private Information Retrieval?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1F6FB2"/>
                </a:solidFill>
                <a:latin typeface="Calibri"/>
              </a:rPr>
              <a:t>•  </a:t>
            </a:r>
            <a:r>
              <a:rPr sz="2000">
                <a:solidFill>
                  <a:srgbClr val="222A33"/>
                </a:solidFill>
                <a:latin typeface="Calibri"/>
              </a:rPr>
              <a:t>Problem statement &amp; objectives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1F6FB2"/>
                </a:solidFill>
                <a:latin typeface="Calibri"/>
              </a:rPr>
              <a:t>•  </a:t>
            </a:r>
            <a:r>
              <a:rPr sz="2000">
                <a:solidFill>
                  <a:srgbClr val="222A33"/>
                </a:solidFill>
                <a:latin typeface="Calibri"/>
              </a:rPr>
              <a:t>Building blocks: Secret Sharing &amp; DPF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1F6FB2"/>
                </a:solidFill>
                <a:latin typeface="Calibri"/>
              </a:rPr>
              <a:t>•  </a:t>
            </a:r>
            <a:r>
              <a:rPr sz="2000">
                <a:solidFill>
                  <a:srgbClr val="222A33"/>
                </a:solidFill>
                <a:latin typeface="Calibri"/>
              </a:rPr>
              <a:t>The four PIR constructions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1">
                <a:solidFill>
                  <a:srgbClr val="1F6FB2"/>
                </a:solidFill>
                <a:latin typeface="Calibri"/>
              </a:rPr>
              <a:t>•  </a:t>
            </a:r>
            <a:r>
              <a:rPr sz="2000">
                <a:solidFill>
                  <a:srgbClr val="222A33"/>
                </a:solidFill>
                <a:latin typeface="Calibri"/>
              </a:rPr>
              <a:t>Experimental setup &amp; methodology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1F6FB2"/>
                </a:solidFill>
                <a:latin typeface="Calibri"/>
              </a:rPr>
              <a:t>•  </a:t>
            </a:r>
            <a:r>
              <a:rPr sz="2000">
                <a:solidFill>
                  <a:srgbClr val="222A33"/>
                </a:solidFill>
                <a:latin typeface="Calibri"/>
              </a:rPr>
              <a:t>Results: query, server, bandwidth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1F6FB2"/>
                </a:solidFill>
                <a:latin typeface="Calibri"/>
              </a:rPr>
              <a:t>•  </a:t>
            </a:r>
            <a:r>
              <a:rPr sz="2000">
                <a:solidFill>
                  <a:srgbClr val="222A33"/>
                </a:solidFill>
                <a:latin typeface="Calibri"/>
              </a:rPr>
              <a:t>Head-to-head comparison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1F6FB2"/>
                </a:solidFill>
                <a:latin typeface="Calibri"/>
              </a:rPr>
              <a:t>•  </a:t>
            </a:r>
            <a:r>
              <a:rPr sz="2000">
                <a:solidFill>
                  <a:srgbClr val="222A33"/>
                </a:solidFill>
                <a:latin typeface="Calibri"/>
              </a:rPr>
              <a:t>Conclusions &amp; 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672"/>
                </a:solidFill>
                <a:latin typeface="Calibri"/>
              </a:rPr>
              <a:t>PIR Protocols Based on Secret Sharing  •  IIT Kanpur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6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16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6A08E"/>
                </a:solidFill>
                <a:latin typeface="Calibri"/>
              </a:rPr>
              <a:t>WHY PIR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Calibri"/>
              </a:rPr>
              <a:t>Motivation: The Privacy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80160"/>
            <a:ext cx="1463040" cy="38100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6492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1F6FB2"/>
                </a:solidFill>
                <a:latin typeface="Calibri"/>
              </a:rPr>
              <a:t>•  </a:t>
            </a:r>
            <a:r>
              <a:rPr sz="1900">
                <a:solidFill>
                  <a:srgbClr val="222A33"/>
                </a:solidFill>
                <a:latin typeface="Calibri"/>
              </a:rPr>
              <a:t>Every database query leaks WHICH record you asked for.</a:t>
            </a:r>
          </a:p>
          <a:p>
            <a:pPr lvl="1">
              <a:spcAft>
                <a:spcPts val="1200"/>
              </a:spcAft>
            </a:pPr>
            <a:r>
              <a:rPr sz="1900" b="1">
                <a:solidFill>
                  <a:srgbClr val="16A08E"/>
                </a:solidFill>
                <a:latin typeface="Calibri"/>
              </a:rPr>
              <a:t>–  </a:t>
            </a:r>
            <a:r>
              <a:rPr sz="1800">
                <a:solidFill>
                  <a:srgbClr val="222A33"/>
                </a:solidFill>
                <a:latin typeface="Calibri"/>
              </a:rPr>
              <a:t>A patent/stock/medical lookup reveals your intent to the server.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F6FB2"/>
                </a:solidFill>
                <a:latin typeface="Calibri"/>
              </a:rPr>
              <a:t>•  </a:t>
            </a:r>
            <a:r>
              <a:rPr sz="1900">
                <a:solidFill>
                  <a:srgbClr val="222A33"/>
                </a:solidFill>
                <a:latin typeface="Calibri"/>
              </a:rPr>
              <a:t>Encrypting the data is not enough — the access pattern itself is sensitive.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F6FB2"/>
                </a:solidFill>
                <a:latin typeface="Calibri"/>
              </a:rPr>
              <a:t>•  </a:t>
            </a:r>
            <a:r>
              <a:rPr sz="1900">
                <a:solidFill>
                  <a:srgbClr val="222A33"/>
                </a:solidFill>
                <a:latin typeface="Calibri"/>
              </a:rPr>
              <a:t>Goal: let a client fetch DB[k] without the server learning k.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F6FB2"/>
                </a:solidFill>
                <a:latin typeface="Calibri"/>
              </a:rPr>
              <a:t>•  </a:t>
            </a:r>
            <a:r>
              <a:rPr sz="1900">
                <a:solidFill>
                  <a:srgbClr val="222A33"/>
                </a:solidFill>
                <a:latin typeface="Calibri"/>
              </a:rPr>
              <a:t>Private Information Retrieval (PIR) solves exactly this.</a:t>
            </a:r>
          </a:p>
          <a:p>
            <a:pPr lvl="1">
              <a:spcAft>
                <a:spcPts val="1200"/>
              </a:spcAft>
            </a:pPr>
            <a:r>
              <a:rPr sz="1900" b="1">
                <a:solidFill>
                  <a:srgbClr val="16A08E"/>
                </a:solidFill>
                <a:latin typeface="Calibri"/>
              </a:rPr>
              <a:t>–  </a:t>
            </a:r>
            <a:r>
              <a:rPr sz="1800">
                <a:solidFill>
                  <a:srgbClr val="222A33"/>
                </a:solidFill>
                <a:latin typeface="Calibri"/>
              </a:rPr>
              <a:t>Information-theoretic PIR: privacy holds even against unbounded servers.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1737360"/>
            <a:ext cx="4160520" cy="36576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0" y="192024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E2A47"/>
                </a:solidFill>
                <a:latin typeface="Calibri"/>
              </a:rPr>
              <a:t>The 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468880"/>
            <a:ext cx="3794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6A08E"/>
                </a:solidFill>
                <a:latin typeface="Calibri"/>
              </a:rPr>
              <a:t>•  </a:t>
            </a:r>
            <a:r>
              <a:rPr sz="1600">
                <a:solidFill>
                  <a:srgbClr val="222A33"/>
                </a:solidFill>
                <a:latin typeface="Calibri"/>
              </a:rPr>
              <a:t>Split the query into shares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6A08E"/>
                </a:solidFill>
                <a:latin typeface="Calibri"/>
              </a:rPr>
              <a:t>•  </a:t>
            </a:r>
            <a:r>
              <a:rPr sz="1600">
                <a:solidFill>
                  <a:srgbClr val="222A33"/>
                </a:solidFill>
                <a:latin typeface="Calibri"/>
              </a:rPr>
              <a:t>Send one share per server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6A08E"/>
                </a:solidFill>
                <a:latin typeface="Calibri"/>
              </a:rPr>
              <a:t>•  </a:t>
            </a:r>
            <a:r>
              <a:rPr sz="1600">
                <a:solidFill>
                  <a:srgbClr val="222A33"/>
                </a:solidFill>
                <a:latin typeface="Calibri"/>
              </a:rPr>
              <a:t>Each server sees only noise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6A08E"/>
                </a:solidFill>
                <a:latin typeface="Calibri"/>
              </a:rPr>
              <a:t>•  </a:t>
            </a:r>
            <a:r>
              <a:rPr sz="1600">
                <a:solidFill>
                  <a:srgbClr val="222A33"/>
                </a:solidFill>
                <a:latin typeface="Calibri"/>
              </a:rPr>
              <a:t>Client combines responses to recover DB[k]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672"/>
                </a:solidFill>
                <a:latin typeface="Calibri"/>
              </a:rPr>
              <a:t>PIR Protocols Based on Secret Sharing  •  IIT Kanpur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6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16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Calibri"/>
              </a:rPr>
              <a:t>Problem Statement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78992"/>
            <a:ext cx="1463040" cy="38100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881360" cy="13716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222A33"/>
                </a:solidFill>
                <a:latin typeface="Calibri"/>
              </a:rPr>
              <a:t>Build and fairly compare multiple secret-sharing–based PIR protocols on the same benchmark, and quantify the trade-offs in query cost, server work, reconstruction and communication (bandwidth).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0698480" cy="25519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100"/>
              </a:spcAft>
            </a:pPr>
            <a:r>
              <a:rPr sz="1900" b="1" dirty="0">
                <a:solidFill>
                  <a:srgbClr val="1F6FB2"/>
                </a:solidFill>
                <a:latin typeface="Calibri"/>
              </a:rPr>
              <a:t>•  </a:t>
            </a:r>
            <a:r>
              <a:rPr sz="1900" dirty="0">
                <a:solidFill>
                  <a:srgbClr val="222A33"/>
                </a:solidFill>
                <a:latin typeface="Calibri"/>
              </a:rPr>
              <a:t>Implement 4 PIR schemes in Python over a common prime field.</a:t>
            </a:r>
          </a:p>
          <a:p>
            <a:pPr lvl="1">
              <a:spcAft>
                <a:spcPts val="1100"/>
              </a:spcAft>
            </a:pPr>
            <a:r>
              <a:rPr sz="1900" b="1" dirty="0">
                <a:solidFill>
                  <a:srgbClr val="16A08E"/>
                </a:solidFill>
                <a:latin typeface="Calibri"/>
              </a:rPr>
              <a:t>–  </a:t>
            </a:r>
            <a:r>
              <a:rPr sz="1800" dirty="0">
                <a:solidFill>
                  <a:srgbClr val="222A33"/>
                </a:solidFill>
                <a:latin typeface="Calibri"/>
              </a:rPr>
              <a:t>Additive SS,  Shamir SS,  2-server DPF,  and Efficient (2, ℓ)-IT-PIR.</a:t>
            </a:r>
            <a:endParaRPr sz="1800" dirty="0">
              <a:solidFill>
                <a:srgbClr val="222A33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1100"/>
              </a:spcAft>
            </a:pPr>
            <a:r>
              <a:rPr sz="1900" b="1" dirty="0">
                <a:solidFill>
                  <a:srgbClr val="1F6FB2"/>
                </a:solidFill>
                <a:latin typeface="Calibri"/>
              </a:rPr>
              <a:t>•  </a:t>
            </a:r>
            <a:r>
              <a:rPr sz="1900" dirty="0">
                <a:solidFill>
                  <a:srgbClr val="222A33"/>
                </a:solidFill>
                <a:latin typeface="Calibri"/>
              </a:rPr>
              <a:t>Keep correctness: reconstructed value must equal DB[k] every time.</a:t>
            </a:r>
            <a:endParaRPr sz="1900" dirty="0">
              <a:solidFill>
                <a:srgbClr val="222A33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1100"/>
              </a:spcAft>
            </a:pPr>
            <a:r>
              <a:rPr sz="1900" b="1" dirty="0">
                <a:solidFill>
                  <a:srgbClr val="1F6FB2"/>
                </a:solidFill>
                <a:latin typeface="Calibri"/>
              </a:rPr>
              <a:t>•  </a:t>
            </a:r>
            <a:r>
              <a:rPr sz="1900" dirty="0">
                <a:solidFill>
                  <a:srgbClr val="222A33"/>
                </a:solidFill>
                <a:latin typeface="Calibri"/>
              </a:rPr>
              <a:t>Measure 4 metrics across DB sizes 100</a:t>
            </a:r>
            <a:r>
              <a:rPr lang="en-US" sz="1900" dirty="0">
                <a:solidFill>
                  <a:srgbClr val="222A33"/>
                </a:solidFill>
                <a:latin typeface="Calibri"/>
              </a:rPr>
              <a:t>,</a:t>
            </a:r>
            <a:r>
              <a:rPr sz="1900" dirty="0">
                <a:solidFill>
                  <a:srgbClr val="222A33"/>
                </a:solidFill>
                <a:latin typeface="Calibri"/>
              </a:rPr>
              <a:t> </a:t>
            </a:r>
            <a:r>
              <a:rPr lang="en-US" sz="1900" dirty="0">
                <a:solidFill>
                  <a:srgbClr val="222A33"/>
                </a:solidFill>
                <a:latin typeface="Calibri"/>
              </a:rPr>
              <a:t>1000, 5000, and 10000</a:t>
            </a:r>
            <a:r>
              <a:rPr sz="1900" dirty="0">
                <a:solidFill>
                  <a:srgbClr val="222A33"/>
                </a:solidFill>
                <a:latin typeface="Calibri"/>
              </a:rPr>
              <a:t>:</a:t>
            </a:r>
            <a:endParaRPr sz="1900" dirty="0">
              <a:solidFill>
                <a:srgbClr val="222A33"/>
              </a:solidFill>
              <a:latin typeface="Calibri"/>
              <a:ea typeface="Calibri"/>
              <a:cs typeface="Calibri"/>
            </a:endParaRPr>
          </a:p>
          <a:p>
            <a:pPr lvl="1">
              <a:spcAft>
                <a:spcPts val="1100"/>
              </a:spcAft>
            </a:pPr>
            <a:r>
              <a:rPr sz="1900" b="1" dirty="0">
                <a:solidFill>
                  <a:srgbClr val="16A08E"/>
                </a:solidFill>
                <a:latin typeface="Calibri"/>
              </a:rPr>
              <a:t>–  </a:t>
            </a:r>
            <a:r>
              <a:rPr sz="1800" dirty="0">
                <a:solidFill>
                  <a:srgbClr val="222A33"/>
                </a:solidFill>
                <a:latin typeface="Calibri"/>
              </a:rPr>
              <a:t>query-creation time, server-computation time, reconstruction time, bandwidth.</a:t>
            </a:r>
            <a:endParaRPr sz="1800" dirty="0">
              <a:solidFill>
                <a:srgbClr val="222A33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1100"/>
              </a:spcAft>
            </a:pPr>
            <a:r>
              <a:rPr sz="1900" b="1" dirty="0">
                <a:solidFill>
                  <a:srgbClr val="1F6FB2"/>
                </a:solidFill>
                <a:latin typeface="Calibri"/>
              </a:rPr>
              <a:t>•  </a:t>
            </a:r>
            <a:r>
              <a:rPr sz="1900" dirty="0">
                <a:solidFill>
                  <a:srgbClr val="222A33"/>
                </a:solidFill>
                <a:latin typeface="Calibri"/>
              </a:rPr>
              <a:t>Identify which scheme wins for each metric and why.</a:t>
            </a:r>
            <a:endParaRPr sz="1900" dirty="0">
              <a:solidFill>
                <a:srgbClr val="222A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672"/>
                </a:solidFill>
                <a:latin typeface="Calibri"/>
              </a:rPr>
              <a:t>PIR Protocols Based on Secret Sharing  •  IIT Kanpur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6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16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6A08E"/>
                </a:solidFill>
                <a:latin typeface="Calibri"/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Calibri"/>
              </a:rPr>
              <a:t>Building Block 1: Secret Sharing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80160"/>
            <a:ext cx="1463040" cy="38100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5349240" cy="42062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F6FB2"/>
                </a:solidFill>
                <a:latin typeface="Calibri"/>
              </a:rPr>
              <a:t>Additive Secret Sharing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4892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F6FB2"/>
                </a:solidFill>
                <a:latin typeface="Calibri"/>
              </a:rPr>
              <a:t>•  </a:t>
            </a:r>
            <a:r>
              <a:rPr sz="1700">
                <a:solidFill>
                  <a:srgbClr val="222A33"/>
                </a:solidFill>
                <a:latin typeface="Calibri"/>
              </a:rPr>
              <a:t>Split s into n random parts that sum to s (mod p).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6FB2"/>
                </a:solidFill>
                <a:latin typeface="Calibri"/>
              </a:rPr>
              <a:t>•  </a:t>
            </a:r>
            <a:r>
              <a:rPr sz="1700">
                <a:solidFill>
                  <a:srgbClr val="222A33"/>
                </a:solidFill>
                <a:latin typeface="Calibri"/>
              </a:rPr>
              <a:t>s = r₁ + r₂ + … + rₙ  (mod p)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6FB2"/>
                </a:solidFill>
                <a:latin typeface="Calibri"/>
              </a:rPr>
              <a:t>•  </a:t>
            </a:r>
            <a:r>
              <a:rPr sz="1700">
                <a:solidFill>
                  <a:srgbClr val="222A33"/>
                </a:solidFill>
                <a:latin typeface="Calibri"/>
              </a:rPr>
              <a:t>Any n−1 shares reveal nothing.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6FB2"/>
                </a:solidFill>
                <a:latin typeface="Calibri"/>
              </a:rPr>
              <a:t>•  </a:t>
            </a:r>
            <a:r>
              <a:rPr sz="1700">
                <a:solidFill>
                  <a:srgbClr val="222A33"/>
                </a:solidFill>
                <a:latin typeface="Calibri"/>
              </a:rPr>
              <a:t>Reconstruct = add all shares.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6FB2"/>
                </a:solidFill>
                <a:latin typeface="Calibri"/>
              </a:rPr>
              <a:t>•  </a:t>
            </a:r>
            <a:r>
              <a:rPr sz="1700">
                <a:solidFill>
                  <a:srgbClr val="222A33"/>
                </a:solidFill>
                <a:latin typeface="Calibri"/>
              </a:rPr>
              <a:t>Simple &amp; fast; needs ALL servers.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645920"/>
            <a:ext cx="5349240" cy="42062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6A08E"/>
                </a:solidFill>
                <a:latin typeface="Calibri"/>
              </a:rPr>
              <a:t>Shamir Secret Sharing (SSS)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23160"/>
            <a:ext cx="4892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6A08E"/>
                </a:solidFill>
                <a:latin typeface="Calibri"/>
              </a:rPr>
              <a:t>•  </a:t>
            </a:r>
            <a:r>
              <a:rPr sz="1700">
                <a:solidFill>
                  <a:srgbClr val="222A33"/>
                </a:solidFill>
                <a:latin typeface="Calibri"/>
              </a:rPr>
              <a:t>Hide s as the constant term of a degree t−1 polynomial.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6A08E"/>
                </a:solidFill>
                <a:latin typeface="Calibri"/>
              </a:rPr>
              <a:t>•  </a:t>
            </a:r>
            <a:r>
              <a:rPr sz="1700">
                <a:solidFill>
                  <a:srgbClr val="222A33"/>
                </a:solidFill>
                <a:latin typeface="Calibri"/>
              </a:rPr>
              <a:t>Shares = points (x, f(x)) on the curve.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6A08E"/>
                </a:solidFill>
                <a:latin typeface="Calibri"/>
              </a:rPr>
              <a:t>•  </a:t>
            </a:r>
            <a:r>
              <a:rPr sz="1700">
                <a:solidFill>
                  <a:srgbClr val="222A33"/>
                </a:solidFill>
                <a:latin typeface="Calibri"/>
              </a:rPr>
              <a:t>Any t shares → Lagrange interpolation recovers 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6A08E"/>
                </a:solidFill>
                <a:latin typeface="Calibri"/>
              </a:rPr>
              <a:t>•  </a:t>
            </a:r>
            <a:r>
              <a:rPr sz="1700">
                <a:solidFill>
                  <a:srgbClr val="222A33"/>
                </a:solidFill>
                <a:latin typeface="Calibri"/>
              </a:rPr>
              <a:t>Threshold: tolerates missing / dropped servers.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6A08E"/>
                </a:solidFill>
                <a:latin typeface="Calibri"/>
              </a:rPr>
              <a:t>•  </a:t>
            </a:r>
            <a:r>
              <a:rPr sz="1700">
                <a:solidFill>
                  <a:srgbClr val="222A33"/>
                </a:solidFill>
                <a:latin typeface="Calibri"/>
              </a:rPr>
              <a:t>Cost: polynomial eval + interpolation.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672"/>
                </a:solidFill>
                <a:latin typeface="Calibri"/>
              </a:rPr>
              <a:t>PIR Protocols Based on Secret Sharing  •  IIT Kanpur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67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16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6A08E"/>
                </a:solidFill>
                <a:latin typeface="Calibri"/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Calibri"/>
              </a:rPr>
              <a:t>Building Block 2: Distributed Point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80160"/>
            <a:ext cx="1463040" cy="38100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900" b="1">
                <a:solidFill>
                  <a:srgbClr val="1F6FB2"/>
                </a:solidFill>
                <a:latin typeface="Calibri"/>
              </a:rPr>
              <a:t>•  </a:t>
            </a:r>
            <a:r>
              <a:rPr sz="1900">
                <a:solidFill>
                  <a:srgbClr val="222A33"/>
                </a:solidFill>
                <a:latin typeface="Calibri"/>
              </a:rPr>
              <a:t>A point function fα,β(x) = β if x = α, else 0.</a:t>
            </a:r>
          </a:p>
          <a:p>
            <a:pPr>
              <a:spcAft>
                <a:spcPts val="1100"/>
              </a:spcAft>
            </a:pPr>
            <a:r>
              <a:rPr sz="1900" b="1">
                <a:solidFill>
                  <a:srgbClr val="1F6FB2"/>
                </a:solidFill>
                <a:latin typeface="Calibri"/>
              </a:rPr>
              <a:t>•  </a:t>
            </a:r>
            <a:r>
              <a:rPr sz="1900">
                <a:solidFill>
                  <a:srgbClr val="222A33"/>
                </a:solidFill>
                <a:latin typeface="Calibri"/>
              </a:rPr>
              <a:t>DPF splits it into two compact keys (k₀, k₁).</a:t>
            </a:r>
          </a:p>
          <a:p>
            <a:pPr>
              <a:spcAft>
                <a:spcPts val="1100"/>
              </a:spcAft>
            </a:pPr>
            <a:r>
              <a:rPr sz="1900" b="1">
                <a:solidFill>
                  <a:srgbClr val="1F6FB2"/>
                </a:solidFill>
                <a:latin typeface="Calibri"/>
              </a:rPr>
              <a:t>•  </a:t>
            </a:r>
            <a:r>
              <a:rPr sz="1900">
                <a:solidFill>
                  <a:srgbClr val="222A33"/>
                </a:solidFill>
                <a:latin typeface="Calibri"/>
              </a:rPr>
              <a:t>Each key alone looks random — hides both α and β.</a:t>
            </a:r>
          </a:p>
          <a:p>
            <a:pPr>
              <a:spcAft>
                <a:spcPts val="1100"/>
              </a:spcAft>
            </a:pPr>
            <a:r>
              <a:rPr sz="1900" b="1">
                <a:solidFill>
                  <a:srgbClr val="1F6FB2"/>
                </a:solidFill>
                <a:latin typeface="Calibri"/>
              </a:rPr>
              <a:t>•  </a:t>
            </a:r>
            <a:r>
              <a:rPr sz="1900">
                <a:solidFill>
                  <a:srgbClr val="222A33"/>
                </a:solidFill>
                <a:latin typeface="Calibri"/>
              </a:rPr>
              <a:t>Eval(k₀,x) + Eval(k₁,x) = fα,β(x) for every x.</a:t>
            </a:r>
          </a:p>
          <a:p>
            <a:pPr>
              <a:spcAft>
                <a:spcPts val="1100"/>
              </a:spcAft>
            </a:pPr>
            <a:r>
              <a:rPr sz="1900" b="1">
                <a:solidFill>
                  <a:srgbClr val="1F6FB2"/>
                </a:solidFill>
                <a:latin typeface="Calibri"/>
              </a:rPr>
              <a:t>•  </a:t>
            </a:r>
            <a:r>
              <a:rPr sz="1900">
                <a:solidFill>
                  <a:srgbClr val="222A33"/>
                </a:solidFill>
                <a:latin typeface="Calibri"/>
              </a:rPr>
              <a:t>Keys are built from a binary tree + correction words,</a:t>
            </a:r>
          </a:p>
          <a:p>
            <a:pPr lvl="1">
              <a:spcAft>
                <a:spcPts val="1100"/>
              </a:spcAft>
            </a:pPr>
            <a:r>
              <a:rPr sz="1900" b="1">
                <a:solidFill>
                  <a:srgbClr val="16A08E"/>
                </a:solidFill>
                <a:latin typeface="Calibri"/>
              </a:rPr>
              <a:t>–  </a:t>
            </a:r>
            <a:r>
              <a:rPr sz="1800">
                <a:solidFill>
                  <a:srgbClr val="222A33"/>
                </a:solidFill>
                <a:latin typeface="Calibri"/>
              </a:rPr>
              <a:t>using a SHA-256 PRG;  key size grows with log₂(N), not N.</a:t>
            </a:r>
          </a:p>
          <a:p>
            <a:pPr>
              <a:spcAft>
                <a:spcPts val="1100"/>
              </a:spcAft>
            </a:pPr>
            <a:r>
              <a:rPr sz="1900" b="1">
                <a:solidFill>
                  <a:srgbClr val="1F6FB2"/>
                </a:solidFill>
                <a:latin typeface="Calibri"/>
              </a:rPr>
              <a:t>•  </a:t>
            </a:r>
            <a:r>
              <a:rPr sz="1900">
                <a:solidFill>
                  <a:srgbClr val="222A33"/>
                </a:solidFill>
                <a:latin typeface="Calibri"/>
              </a:rPr>
              <a:t>This is the compression trick behind efficient PIR.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52360" y="1737360"/>
            <a:ext cx="4114800" cy="3749039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35240" y="192024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E2A47"/>
                </a:solidFill>
                <a:latin typeface="Calibri"/>
              </a:rPr>
              <a:t>Point-function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423160"/>
            <a:ext cx="37490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E18A1B"/>
                </a:solidFill>
                <a:latin typeface="Calibri"/>
              </a:rPr>
              <a:t>•  </a:t>
            </a:r>
            <a:r>
              <a:rPr sz="1600">
                <a:solidFill>
                  <a:srgbClr val="222A33"/>
                </a:solidFill>
                <a:latin typeface="Calibri"/>
              </a:rPr>
              <a:t>x = 0 → 0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18A1B"/>
                </a:solidFill>
                <a:latin typeface="Calibri"/>
              </a:rPr>
              <a:t>•  </a:t>
            </a:r>
            <a:r>
              <a:rPr sz="1600">
                <a:solidFill>
                  <a:srgbClr val="222A33"/>
                </a:solidFill>
                <a:latin typeface="Calibri"/>
              </a:rPr>
              <a:t>x = 1 → 0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18A1B"/>
                </a:solidFill>
                <a:latin typeface="Calibri"/>
              </a:rPr>
              <a:t>•  </a:t>
            </a:r>
            <a:r>
              <a:rPr sz="1600">
                <a:solidFill>
                  <a:srgbClr val="222A33"/>
                </a:solidFill>
                <a:latin typeface="Calibri"/>
              </a:rPr>
              <a:t>x = α → β   ◄ only here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18A1B"/>
                </a:solidFill>
                <a:latin typeface="Calibri"/>
              </a:rPr>
              <a:t>•  </a:t>
            </a:r>
            <a:r>
              <a:rPr sz="1600">
                <a:solidFill>
                  <a:srgbClr val="222A33"/>
                </a:solidFill>
                <a:latin typeface="Calibri"/>
              </a:rPr>
              <a:t>x = … → 0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18A1B"/>
                </a:solidFill>
                <a:latin typeface="Calibri"/>
              </a:rPr>
              <a:t>•  </a:t>
            </a:r>
            <a:r>
              <a:rPr sz="1600">
                <a:solidFill>
                  <a:srgbClr val="222A33"/>
                </a:solidFill>
                <a:latin typeface="Calibri"/>
              </a:rPr>
              <a:t>Sum of both shares = β at 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672"/>
                </a:solidFill>
                <a:latin typeface="Calibri"/>
              </a:rPr>
              <a:t>PIR Protocols Based on Secret Sharing  •  IIT Kanpur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67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16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Calibri"/>
              </a:rPr>
              <a:t>Common PIR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78992"/>
            <a:ext cx="1463040" cy="38100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2651760" cy="301752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2651760" cy="3840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2651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1.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514600"/>
            <a:ext cx="22860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22A33"/>
                </a:solidFill>
                <a:latin typeface="Calibri"/>
              </a:rPr>
              <a:t>Client turns index k into a unit vector eₖ, then secret-shares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301752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5A6672"/>
                </a:solidFill>
                <a:latin typeface="Calibri"/>
              </a:rPr>
              <a:t>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79" y="1920240"/>
            <a:ext cx="2651760" cy="301752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79" y="1920240"/>
            <a:ext cx="2651760" cy="384048"/>
          </a:xfrm>
          <a:prstGeom prst="rect">
            <a:avLst/>
          </a:prstGeom>
          <a:solidFill>
            <a:srgbClr val="16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79" y="1920240"/>
            <a:ext cx="2651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2. Distribute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59" y="2514600"/>
            <a:ext cx="22860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22A33"/>
                </a:solidFill>
                <a:latin typeface="Calibri"/>
              </a:rPr>
              <a:t>One share (or DPF key) is sent to each server.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19" y="301752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5A6672"/>
                </a:solidFill>
                <a:latin typeface="Calibri"/>
              </a:rPr>
              <a:t>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79" y="1920240"/>
            <a:ext cx="2651760" cy="301752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79" y="1920240"/>
            <a:ext cx="2651760" cy="384048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79" y="1920240"/>
            <a:ext cx="2651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3. Compute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514600"/>
            <a:ext cx="22860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22A33"/>
                </a:solidFill>
                <a:latin typeface="Calibri"/>
              </a:rPr>
              <a:t>Each server returns  share · DB  (an inner product).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19" y="301752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5A6672"/>
                </a:solidFill>
                <a:latin typeface="Calibri"/>
              </a:rPr>
              <a:t>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79" y="1920240"/>
            <a:ext cx="2651760" cy="301752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69679" y="1920240"/>
            <a:ext cx="2651760" cy="38404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79" y="1920240"/>
            <a:ext cx="2651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4. Reconstruct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59" y="2514600"/>
            <a:ext cx="22860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22A33"/>
                </a:solidFill>
                <a:latin typeface="Calibri"/>
              </a:rPr>
              <a:t>Client combines responses to recover DB[k].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30352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>
                <a:solidFill>
                  <a:srgbClr val="0E2A47"/>
                </a:solidFill>
                <a:latin typeface="Calibri"/>
              </a:rPr>
              <a:t>Privacy guarantee: a server sees only its own share, which is indistinguishable from random — so it cannot learn 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672"/>
                </a:solidFill>
                <a:latin typeface="Calibri"/>
              </a:rPr>
              <a:t>PIR Protocols Based on Secret Sharing  •  IIT Kanpur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6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16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6A08E"/>
                </a:solidFill>
                <a:latin typeface="Calibri"/>
              </a:rPr>
              <a:t>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Calibri"/>
              </a:rPr>
              <a:t>Method 1 — PIR with Additive Secret Sharing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80160"/>
            <a:ext cx="1463040" cy="38100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6675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•  </a:t>
            </a:r>
            <a:r>
              <a:rPr sz="1800">
                <a:solidFill>
                  <a:srgbClr val="222A33"/>
                </a:solidFill>
                <a:latin typeface="Calibri"/>
              </a:rPr>
              <a:t>Query vector eₖ is additively shared across all servers.</a:t>
            </a:r>
          </a:p>
          <a:p>
            <a:pPr lvl="1">
              <a:spcAft>
                <a:spcPts val="1100"/>
              </a:spcAft>
            </a:pPr>
            <a:r>
              <a:rPr sz="1800" b="1">
                <a:solidFill>
                  <a:srgbClr val="16A08E"/>
                </a:solidFill>
                <a:latin typeface="Calibri"/>
              </a:rPr>
              <a:t>–  </a:t>
            </a:r>
            <a:r>
              <a:rPr sz="1700">
                <a:solidFill>
                  <a:srgbClr val="222A33"/>
                </a:solidFill>
                <a:latin typeface="Calibri"/>
              </a:rPr>
              <a:t>First n−1 share vectors are random; last fixes the sum to eₖ.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•  </a:t>
            </a:r>
            <a:r>
              <a:rPr sz="1800">
                <a:solidFill>
                  <a:srgbClr val="222A33"/>
                </a:solidFill>
                <a:latin typeface="Calibri"/>
              </a:rPr>
              <a:t>Each server computes Σ qⱼ · DB[j]  (mod 2⁶¹−1).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•  </a:t>
            </a:r>
            <a:r>
              <a:rPr sz="1800">
                <a:solidFill>
                  <a:srgbClr val="222A33"/>
                </a:solidFill>
                <a:latin typeface="Calibri"/>
              </a:rPr>
              <a:t>Client sums all responses → DB[k].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•  </a:t>
            </a:r>
            <a:r>
              <a:rPr sz="1800">
                <a:solidFill>
                  <a:srgbClr val="222A33"/>
                </a:solidFill>
                <a:latin typeface="Calibri"/>
              </a:rPr>
              <a:t>Needs every server to respond (no threshold).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•  </a:t>
            </a:r>
            <a:r>
              <a:rPr sz="1800">
                <a:solidFill>
                  <a:srgbClr val="222A33"/>
                </a:solidFill>
                <a:latin typeface="Calibri"/>
              </a:rPr>
              <a:t>Simplest and most intuitive construction.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737360"/>
            <a:ext cx="4069080" cy="36576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192024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E2A47"/>
                </a:solidFill>
                <a:latin typeface="Calibri"/>
              </a:rPr>
              <a:t>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423160"/>
            <a:ext cx="3703320" cy="14773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200"/>
              </a:spcAft>
            </a:pPr>
            <a:r>
              <a:rPr sz="1500" b="1" dirty="0">
                <a:solidFill>
                  <a:srgbClr val="16A08E"/>
                </a:solidFill>
                <a:latin typeface="Calibri"/>
              </a:rPr>
              <a:t>•  </a:t>
            </a:r>
            <a:r>
              <a:rPr sz="1500" dirty="0">
                <a:solidFill>
                  <a:srgbClr val="222A33"/>
                </a:solidFill>
                <a:latin typeface="Calibri"/>
              </a:rPr>
              <a:t>Field: 2⁶¹ − 1</a:t>
            </a: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16A08E"/>
                </a:solidFill>
                <a:latin typeface="Calibri"/>
              </a:rPr>
              <a:t>•  </a:t>
            </a:r>
            <a:r>
              <a:rPr sz="1500" dirty="0">
                <a:solidFill>
                  <a:srgbClr val="222A33"/>
                </a:solidFill>
                <a:latin typeface="Calibri"/>
              </a:rPr>
              <a:t>Servers: </a:t>
            </a:r>
            <a:r>
              <a:rPr lang="en-US" sz="1500" dirty="0">
                <a:solidFill>
                  <a:srgbClr val="222A33"/>
                </a:solidFill>
                <a:ea typeface="+mn-lt"/>
                <a:cs typeface="+mn-lt"/>
              </a:rPr>
              <a:t>3 (benchmark)</a:t>
            </a: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16A08E"/>
                </a:solidFill>
                <a:latin typeface="Calibri"/>
              </a:rPr>
              <a:t>•  </a:t>
            </a:r>
            <a:r>
              <a:rPr sz="1500" dirty="0">
                <a:solidFill>
                  <a:srgbClr val="222A33"/>
                </a:solidFill>
                <a:latin typeface="Calibri"/>
              </a:rPr>
              <a:t>Query cost: linear in N</a:t>
            </a:r>
            <a:endParaRPr sz="1500" dirty="0">
              <a:solidFill>
                <a:srgbClr val="222A33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16A08E"/>
                </a:solidFill>
                <a:latin typeface="Calibri"/>
              </a:rPr>
              <a:t>•  </a:t>
            </a:r>
            <a:r>
              <a:rPr sz="1500" dirty="0">
                <a:solidFill>
                  <a:srgbClr val="222A33"/>
                </a:solidFill>
                <a:latin typeface="Calibri"/>
              </a:rPr>
              <a:t>Bandwidth: linear in N</a:t>
            </a:r>
            <a:endParaRPr sz="1500" dirty="0">
              <a:solidFill>
                <a:srgbClr val="222A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672"/>
                </a:solidFill>
                <a:latin typeface="Calibri"/>
              </a:rPr>
              <a:t>PIR Protocols Based on Secret Sharing  •  IIT Kanpur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67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16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6A08E"/>
                </a:solidFill>
                <a:latin typeface="Calibri"/>
              </a:rPr>
              <a:t>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Calibri"/>
              </a:rPr>
              <a:t>Method 2 — PIR with Shamir Secret Sharing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80160"/>
            <a:ext cx="1463040" cy="38100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6675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•  </a:t>
            </a:r>
            <a:r>
              <a:rPr sz="1800">
                <a:solidFill>
                  <a:srgbClr val="222A33"/>
                </a:solidFill>
                <a:latin typeface="Calibri"/>
              </a:rPr>
              <a:t>Each entry of eₖ is Shamir-shared with threshold t.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•  </a:t>
            </a:r>
            <a:r>
              <a:rPr sz="1800">
                <a:solidFill>
                  <a:srgbClr val="222A33"/>
                </a:solidFill>
                <a:latin typeface="Calibri"/>
              </a:rPr>
              <a:t>Servers compute the inner product on their share vector.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•  </a:t>
            </a:r>
            <a:r>
              <a:rPr sz="1800">
                <a:solidFill>
                  <a:srgbClr val="222A33"/>
                </a:solidFill>
                <a:latin typeface="Calibri"/>
              </a:rPr>
              <a:t>Any t+1 responses reconstruct DB[k] via Lagrange interpolation.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•  </a:t>
            </a:r>
            <a:r>
              <a:rPr sz="1800">
                <a:solidFill>
                  <a:srgbClr val="222A33"/>
                </a:solidFill>
                <a:latin typeface="Calibri"/>
              </a:rPr>
              <a:t>Robust: tolerates up to SERVERS − t missing servers.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•  </a:t>
            </a:r>
            <a:r>
              <a:rPr sz="1800">
                <a:solidFill>
                  <a:srgbClr val="222A33"/>
                </a:solidFill>
                <a:latin typeface="Calibri"/>
              </a:rPr>
              <a:t>Extra cost: polynomial evaluation per database entry.</a:t>
            </a:r>
          </a:p>
          <a:p>
            <a:pPr lvl="1">
              <a:spcAft>
                <a:spcPts val="1100"/>
              </a:spcAft>
            </a:pPr>
            <a:r>
              <a:rPr sz="1800" b="1">
                <a:solidFill>
                  <a:srgbClr val="16A08E"/>
                </a:solidFill>
                <a:latin typeface="Calibri"/>
              </a:rPr>
              <a:t>–  </a:t>
            </a:r>
            <a:r>
              <a:rPr sz="1700">
                <a:solidFill>
                  <a:srgbClr val="222A33"/>
                </a:solidFill>
                <a:latin typeface="Calibri"/>
              </a:rPr>
              <a:t>→ slowest query creation, especially at large 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737360"/>
            <a:ext cx="4069080" cy="36576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192024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E2A47"/>
                </a:solidFill>
                <a:latin typeface="Calibri"/>
              </a:rPr>
              <a:t>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423160"/>
            <a:ext cx="3703320" cy="14773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200"/>
              </a:spcAft>
            </a:pPr>
            <a:r>
              <a:rPr sz="1500" b="1" dirty="0">
                <a:solidFill>
                  <a:srgbClr val="16A08E"/>
                </a:solidFill>
                <a:latin typeface="Calibri"/>
              </a:rPr>
              <a:t>•  </a:t>
            </a:r>
            <a:r>
              <a:rPr sz="1500" dirty="0">
                <a:solidFill>
                  <a:srgbClr val="222A33"/>
                </a:solidFill>
                <a:latin typeface="Calibri"/>
              </a:rPr>
              <a:t>Field: </a:t>
            </a:r>
            <a:r>
              <a:rPr lang="en-US" sz="1500" dirty="0">
                <a:solidFill>
                  <a:srgbClr val="222A33"/>
                </a:solidFill>
                <a:latin typeface="Calibri"/>
              </a:rPr>
              <a:t>2⁶¹ </a:t>
            </a:r>
            <a:r>
              <a:rPr sz="1500" dirty="0">
                <a:solidFill>
                  <a:srgbClr val="222A33"/>
                </a:solidFill>
                <a:latin typeface="Calibri"/>
              </a:rPr>
              <a:t>− 1</a:t>
            </a: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16A08E"/>
                </a:solidFill>
                <a:latin typeface="Calibri"/>
              </a:rPr>
              <a:t>•  </a:t>
            </a:r>
            <a:r>
              <a:rPr sz="1500" dirty="0">
                <a:solidFill>
                  <a:srgbClr val="222A33"/>
                </a:solidFill>
                <a:latin typeface="Calibri"/>
              </a:rPr>
              <a:t>Threshold t (default </a:t>
            </a:r>
            <a:r>
              <a:rPr lang="en-US" sz="1500" dirty="0">
                <a:solidFill>
                  <a:srgbClr val="222A33"/>
                </a:solidFill>
                <a:latin typeface="Calibri"/>
              </a:rPr>
              <a:t>2</a:t>
            </a:r>
            <a:r>
              <a:rPr sz="1500" dirty="0">
                <a:solidFill>
                  <a:srgbClr val="222A33"/>
                </a:solidFill>
                <a:latin typeface="Calibri"/>
              </a:rPr>
              <a:t>)</a:t>
            </a:r>
            <a:endParaRPr sz="1500" dirty="0">
              <a:solidFill>
                <a:srgbClr val="222A33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16A08E"/>
                </a:solidFill>
                <a:latin typeface="Calibri"/>
              </a:rPr>
              <a:t>•  </a:t>
            </a:r>
            <a:r>
              <a:rPr sz="1500" dirty="0">
                <a:solidFill>
                  <a:srgbClr val="222A33"/>
                </a:solidFill>
                <a:latin typeface="Calibri"/>
              </a:rPr>
              <a:t>Query cost: linear in N (+poly)</a:t>
            </a:r>
            <a:endParaRPr sz="1500" dirty="0">
              <a:solidFill>
                <a:srgbClr val="222A33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16A08E"/>
                </a:solidFill>
                <a:latin typeface="Calibri"/>
              </a:rPr>
              <a:t>•  </a:t>
            </a:r>
            <a:r>
              <a:rPr sz="1500" dirty="0">
                <a:solidFill>
                  <a:srgbClr val="222A33"/>
                </a:solidFill>
                <a:latin typeface="Calibri"/>
              </a:rPr>
              <a:t>Fault-tolerant reconstruction</a:t>
            </a:r>
            <a:endParaRPr sz="1500" dirty="0">
              <a:solidFill>
                <a:srgbClr val="222A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672"/>
                </a:solidFill>
                <a:latin typeface="Calibri"/>
              </a:rPr>
              <a:t>PIR Protocols Based on Secret Sharing  •  IIT Kanpur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6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16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6A08E"/>
                </a:solidFill>
                <a:latin typeface="Calibri"/>
              </a:rPr>
              <a:t>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Calibri"/>
              </a:rPr>
              <a:t>Method 3 — Two-Server PIR using DPF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80160"/>
            <a:ext cx="1463040" cy="38100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6675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•  </a:t>
            </a:r>
            <a:r>
              <a:rPr sz="1800">
                <a:solidFill>
                  <a:srgbClr val="222A33"/>
                </a:solidFill>
                <a:latin typeface="Calibri"/>
              </a:rPr>
              <a:t>Client builds a DPF for the point function at index k.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•  </a:t>
            </a:r>
            <a:r>
              <a:rPr sz="1800">
                <a:solidFill>
                  <a:srgbClr val="222A33"/>
                </a:solidFill>
                <a:latin typeface="Calibri"/>
              </a:rPr>
              <a:t>The two DPF keys go to two servers.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•  </a:t>
            </a:r>
            <a:r>
              <a:rPr sz="1800">
                <a:solidFill>
                  <a:srgbClr val="222A33"/>
                </a:solidFill>
                <a:latin typeface="Calibri"/>
              </a:rPr>
              <a:t>Each server evaluates the key over all indices → a share of eₖ,</a:t>
            </a:r>
          </a:p>
          <a:p>
            <a:pPr lvl="1">
              <a:spcAft>
                <a:spcPts val="1100"/>
              </a:spcAft>
            </a:pPr>
            <a:r>
              <a:rPr sz="1800" b="1">
                <a:solidFill>
                  <a:srgbClr val="16A08E"/>
                </a:solidFill>
                <a:latin typeface="Calibri"/>
              </a:rPr>
              <a:t>–  </a:t>
            </a:r>
            <a:r>
              <a:rPr sz="1700">
                <a:solidFill>
                  <a:srgbClr val="222A33"/>
                </a:solidFill>
                <a:latin typeface="Calibri"/>
              </a:rPr>
              <a:t>then returns the inner product with the database.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•  </a:t>
            </a:r>
            <a:r>
              <a:rPr sz="1800">
                <a:solidFill>
                  <a:srgbClr val="222A33"/>
                </a:solidFill>
                <a:latin typeface="Calibri"/>
              </a:rPr>
              <a:t>Client adds the two responses → DB[k].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•  </a:t>
            </a:r>
            <a:r>
              <a:rPr sz="1800">
                <a:solidFill>
                  <a:srgbClr val="222A33"/>
                </a:solidFill>
                <a:latin typeface="Calibri"/>
              </a:rPr>
              <a:t>Query creation is near-constant: it depends on log₂(N), not 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737360"/>
            <a:ext cx="4069080" cy="36576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192024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E2A47"/>
                </a:solidFill>
                <a:latin typeface="Calibri"/>
              </a:rPr>
              <a:t>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423160"/>
            <a:ext cx="3703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6A08E"/>
                </a:solidFill>
                <a:latin typeface="Calibri"/>
              </a:rPr>
              <a:t>•  </a:t>
            </a:r>
            <a:r>
              <a:rPr sz="1500">
                <a:solidFill>
                  <a:srgbClr val="222A33"/>
                </a:solidFill>
                <a:latin typeface="Calibri"/>
              </a:rPr>
              <a:t>Servers: exactly 2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6A08E"/>
                </a:solidFill>
                <a:latin typeface="Calibri"/>
              </a:rPr>
              <a:t>•  </a:t>
            </a:r>
            <a:r>
              <a:rPr sz="1500">
                <a:solidFill>
                  <a:srgbClr val="222A33"/>
                </a:solidFill>
                <a:latin typeface="Calibri"/>
              </a:rPr>
              <a:t>Fastest query &amp; reconstruction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6A08E"/>
                </a:solidFill>
                <a:latin typeface="Calibri"/>
              </a:rPr>
              <a:t>•  </a:t>
            </a:r>
            <a:r>
              <a:rPr sz="1500">
                <a:solidFill>
                  <a:srgbClr val="222A33"/>
                </a:solidFill>
                <a:latin typeface="Calibri"/>
              </a:rPr>
              <a:t>Server work grows with N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6A08E"/>
                </a:solidFill>
                <a:latin typeface="Calibri"/>
              </a:rPr>
              <a:t>•  </a:t>
            </a:r>
            <a:r>
              <a:rPr sz="1500">
                <a:solidFill>
                  <a:srgbClr val="222A33"/>
                </a:solidFill>
                <a:latin typeface="Calibri"/>
              </a:rPr>
              <a:t>Bandwidth: full-length keys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672"/>
                </a:solidFill>
                <a:latin typeface="Calibri"/>
              </a:rPr>
              <a:t>PIR Protocols Based on Secret Sharing  •  IIT Kanpur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6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16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6A08E"/>
                </a:solidFill>
                <a:latin typeface="Calibri"/>
              </a:rPr>
              <a:t>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Calibri"/>
              </a:rPr>
              <a:t>Method 4 — Efficient (2, ℓ)-IT-PIR with DPF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80160"/>
            <a:ext cx="1463040" cy="38100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6675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•  </a:t>
            </a:r>
            <a:r>
              <a:rPr sz="1800">
                <a:solidFill>
                  <a:srgbClr val="222A33"/>
                </a:solidFill>
                <a:latin typeface="Calibri"/>
              </a:rPr>
              <a:t>Generalises DPF-PIR to ℓ servers (ℓ a power of 2, d = log₂ ℓ levels).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•  </a:t>
            </a:r>
            <a:r>
              <a:rPr sz="1800">
                <a:solidFill>
                  <a:srgbClr val="222A33"/>
                </a:solidFill>
                <a:latin typeface="Calibri"/>
              </a:rPr>
              <a:t>d independent DPF key pairs for the same index k.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•  </a:t>
            </a:r>
            <a:r>
              <a:rPr sz="1800">
                <a:solidFill>
                  <a:srgbClr val="222A33"/>
                </a:solidFill>
                <a:latin typeface="Calibri"/>
              </a:rPr>
              <a:t>Each server gets keys selected by its binary label b.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•  </a:t>
            </a:r>
            <a:r>
              <a:rPr sz="1800">
                <a:solidFill>
                  <a:srgbClr val="222A33"/>
                </a:solidFill>
                <a:latin typeface="Calibri"/>
              </a:rPr>
              <a:t>Any two servers with differing labels reconstruct DB[k].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•  </a:t>
            </a:r>
            <a:r>
              <a:rPr sz="1800">
                <a:solidFill>
                  <a:srgbClr val="222A33"/>
                </a:solidFill>
                <a:latin typeface="Calibri"/>
              </a:rPr>
              <a:t>Sends only compact DPF keys → tiny, logarithmic bandwidth.</a:t>
            </a:r>
          </a:p>
          <a:p>
            <a:pPr lvl="1">
              <a:spcAft>
                <a:spcPts val="1100"/>
              </a:spcAft>
            </a:pPr>
            <a:r>
              <a:rPr sz="1800" b="1">
                <a:solidFill>
                  <a:srgbClr val="16A08E"/>
                </a:solidFill>
                <a:latin typeface="Calibri"/>
              </a:rPr>
              <a:t>–  </a:t>
            </a:r>
            <a:r>
              <a:rPr sz="1700">
                <a:solidFill>
                  <a:srgbClr val="222A33"/>
                </a:solidFill>
                <a:latin typeface="Calibri"/>
              </a:rPr>
              <a:t>Trade-off: full DPF-tree evaluation makes server work the heaviest.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737360"/>
            <a:ext cx="4069080" cy="36576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192024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E2A47"/>
                </a:solidFill>
                <a:latin typeface="Calibri"/>
              </a:rPr>
              <a:t>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423160"/>
            <a:ext cx="3703320" cy="14773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200"/>
              </a:spcAft>
            </a:pPr>
            <a:r>
              <a:rPr sz="1500" b="1" dirty="0">
                <a:solidFill>
                  <a:srgbClr val="E18A1B"/>
                </a:solidFill>
                <a:latin typeface="Calibri"/>
              </a:rPr>
              <a:t>•  </a:t>
            </a:r>
            <a:r>
              <a:rPr sz="1500" dirty="0">
                <a:solidFill>
                  <a:srgbClr val="222A33"/>
                </a:solidFill>
                <a:latin typeface="Calibri"/>
              </a:rPr>
              <a:t>Servers: ℓ = </a:t>
            </a:r>
            <a:r>
              <a:rPr lang="en-US" sz="1500" dirty="0">
                <a:solidFill>
                  <a:srgbClr val="222A33"/>
                </a:solidFill>
                <a:latin typeface="Calibri"/>
              </a:rPr>
              <a:t>4</a:t>
            </a:r>
            <a:r>
              <a:rPr sz="1500" dirty="0">
                <a:solidFill>
                  <a:srgbClr val="222A33"/>
                </a:solidFill>
                <a:latin typeface="Calibri"/>
              </a:rPr>
              <a:t> (</a:t>
            </a:r>
            <a:r>
              <a:rPr lang="en-US" sz="1500" dirty="0">
                <a:solidFill>
                  <a:srgbClr val="222A33"/>
                </a:solidFill>
                <a:ea typeface="+mn-lt"/>
                <a:cs typeface="+mn-lt"/>
              </a:rPr>
              <a:t>benchmark</a:t>
            </a:r>
            <a:r>
              <a:rPr sz="1500" dirty="0">
                <a:solidFill>
                  <a:srgbClr val="222A33"/>
                </a:solidFill>
                <a:latin typeface="Calibri"/>
              </a:rPr>
              <a:t>)</a:t>
            </a: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E18A1B"/>
                </a:solidFill>
                <a:latin typeface="Calibri"/>
              </a:rPr>
              <a:t>•  </a:t>
            </a:r>
            <a:r>
              <a:rPr sz="1500" dirty="0">
                <a:solidFill>
                  <a:srgbClr val="222A33"/>
                </a:solidFill>
                <a:latin typeface="Calibri"/>
              </a:rPr>
              <a:t>Lowest bandwidth (log N)</a:t>
            </a:r>
            <a:endParaRPr sz="1500" dirty="0">
              <a:solidFill>
                <a:srgbClr val="222A33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E18A1B"/>
                </a:solidFill>
                <a:latin typeface="Calibri"/>
              </a:rPr>
              <a:t>•  </a:t>
            </a:r>
            <a:r>
              <a:rPr sz="1500" dirty="0">
                <a:solidFill>
                  <a:srgbClr val="222A33"/>
                </a:solidFill>
                <a:latin typeface="Calibri"/>
              </a:rPr>
              <a:t>Highest server computation</a:t>
            </a:r>
            <a:endParaRPr sz="1500" dirty="0">
              <a:solidFill>
                <a:srgbClr val="222A33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E18A1B"/>
                </a:solidFill>
                <a:latin typeface="Calibri"/>
              </a:rPr>
              <a:t>•  </a:t>
            </a:r>
            <a:r>
              <a:rPr sz="1500" dirty="0">
                <a:solidFill>
                  <a:srgbClr val="222A33"/>
                </a:solidFill>
                <a:latin typeface="Calibri"/>
              </a:rPr>
              <a:t>Field: </a:t>
            </a:r>
            <a:r>
              <a:rPr lang="en-US" sz="1500" dirty="0">
                <a:solidFill>
                  <a:srgbClr val="222A33"/>
                </a:solidFill>
                <a:latin typeface="Calibri"/>
              </a:rPr>
              <a:t>2⁶¹ </a:t>
            </a:r>
            <a:r>
              <a:rPr sz="1500" dirty="0">
                <a:solidFill>
                  <a:srgbClr val="222A33"/>
                </a:solidFill>
                <a:latin typeface="Calibri"/>
              </a:rPr>
              <a:t>− 1</a:t>
            </a:r>
            <a:endParaRPr sz="1500" dirty="0">
              <a:solidFill>
                <a:srgbClr val="222A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672"/>
                </a:solidFill>
                <a:latin typeface="Calibri"/>
              </a:rPr>
              <a:t>PIR Protocols Based on Secret Sharing  •  IIT Kanpur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67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16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6A08E"/>
                </a:solidFill>
                <a:latin typeface="Calibri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Calibri"/>
              </a:rPr>
              <a:t>Experimental Setup &amp;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80160"/>
            <a:ext cx="1463040" cy="38100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6675120" cy="307776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 dirty="0">
                <a:solidFill>
                  <a:srgbClr val="1F6FB2"/>
                </a:solidFill>
                <a:latin typeface="Calibri"/>
              </a:rPr>
              <a:t>•  </a:t>
            </a:r>
            <a:r>
              <a:rPr sz="1800" dirty="0">
                <a:solidFill>
                  <a:srgbClr val="222A33"/>
                </a:solidFill>
                <a:latin typeface="Calibri"/>
              </a:rPr>
              <a:t>Single harness: run_all_time_analysis.py runs all 4 schemes.</a:t>
            </a:r>
          </a:p>
          <a:p>
            <a:pPr>
              <a:spcAft>
                <a:spcPts val="1000"/>
              </a:spcAft>
            </a:pPr>
            <a:r>
              <a:rPr sz="1800" b="1" dirty="0">
                <a:solidFill>
                  <a:srgbClr val="1F6FB2"/>
                </a:solidFill>
                <a:latin typeface="Calibri"/>
              </a:rPr>
              <a:t>•  </a:t>
            </a:r>
            <a:r>
              <a:rPr sz="1800" dirty="0">
                <a:solidFill>
                  <a:srgbClr val="222A33"/>
                </a:solidFill>
                <a:latin typeface="Calibri"/>
              </a:rPr>
              <a:t>Database sizes: 100, 1,000, 5,000, 10,000 random records.</a:t>
            </a:r>
            <a:endParaRPr sz="1800" dirty="0">
              <a:solidFill>
                <a:srgbClr val="222A33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1000"/>
              </a:spcAft>
            </a:pPr>
            <a:r>
              <a:rPr sz="1800" b="1" dirty="0">
                <a:solidFill>
                  <a:srgbClr val="1F6FB2"/>
                </a:solidFill>
                <a:latin typeface="Calibri"/>
              </a:rPr>
              <a:t>•  </a:t>
            </a:r>
            <a:r>
              <a:rPr sz="1800" dirty="0">
                <a:solidFill>
                  <a:srgbClr val="222A33"/>
                </a:solidFill>
                <a:latin typeface="Calibri"/>
              </a:rPr>
              <a:t>Query index </a:t>
            </a:r>
            <a:r>
              <a:rPr lang="en-US" sz="1800" dirty="0">
                <a:solidFill>
                  <a:srgbClr val="222A33"/>
                </a:solidFill>
                <a:ea typeface="+mn-lt"/>
                <a:cs typeface="+mn-lt"/>
              </a:rPr>
              <a:t>k = 0; </a:t>
            </a:r>
            <a:r>
              <a:rPr lang="en-US" dirty="0">
                <a:solidFill>
                  <a:srgbClr val="222A33"/>
                </a:solidFill>
                <a:ea typeface="+mn-lt"/>
                <a:cs typeface="+mn-lt"/>
              </a:rPr>
              <a:t>servers: Additive &amp; Shamir = 3 (t = 2), </a:t>
            </a:r>
            <a:br>
              <a:rPr lang="en-US" dirty="0">
                <a:solidFill>
                  <a:srgbClr val="222A33"/>
                </a:solidFill>
                <a:ea typeface="+mn-lt"/>
                <a:cs typeface="+mn-lt"/>
              </a:rPr>
            </a:br>
            <a:r>
              <a:rPr lang="en-US" dirty="0">
                <a:solidFill>
                  <a:srgbClr val="222A33"/>
                </a:solidFill>
                <a:ea typeface="+mn-lt"/>
                <a:cs typeface="+mn-lt"/>
              </a:rPr>
              <a:t>     DPF = 2, IT-PIR = 4</a:t>
            </a:r>
            <a:r>
              <a:rPr lang="en-US" sz="1800" dirty="0">
                <a:solidFill>
                  <a:srgbClr val="222A33"/>
                </a:solidFill>
                <a:ea typeface="+mn-lt"/>
                <a:cs typeface="+mn-lt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800" b="1" dirty="0">
                <a:solidFill>
                  <a:srgbClr val="1F6FB2"/>
                </a:solidFill>
                <a:latin typeface="Calibri"/>
              </a:rPr>
              <a:t>•  </a:t>
            </a:r>
            <a:r>
              <a:rPr sz="1800" dirty="0">
                <a:solidFill>
                  <a:srgbClr val="222A33"/>
                </a:solidFill>
                <a:latin typeface="Calibri"/>
              </a:rPr>
              <a:t>Four metrics recorded per run:</a:t>
            </a:r>
            <a:endParaRPr sz="1800" dirty="0">
              <a:solidFill>
                <a:srgbClr val="222A33"/>
              </a:solidFill>
              <a:latin typeface="Calibri"/>
              <a:ea typeface="Calibri"/>
              <a:cs typeface="Calibri"/>
            </a:endParaRPr>
          </a:p>
          <a:p>
            <a:pPr lvl="1">
              <a:spcAft>
                <a:spcPts val="1000"/>
              </a:spcAft>
            </a:pPr>
            <a:r>
              <a:rPr sz="1800" b="1" dirty="0">
                <a:solidFill>
                  <a:srgbClr val="16A08E"/>
                </a:solidFill>
                <a:latin typeface="Calibri"/>
              </a:rPr>
              <a:t>–  </a:t>
            </a:r>
            <a:r>
              <a:rPr sz="1700" dirty="0">
                <a:solidFill>
                  <a:srgbClr val="222A33"/>
                </a:solidFill>
                <a:latin typeface="Calibri"/>
              </a:rPr>
              <a:t>query-creation, server-computation, reconstruction, bandwidth.</a:t>
            </a:r>
            <a:endParaRPr sz="1700" dirty="0">
              <a:solidFill>
                <a:srgbClr val="222A33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1000"/>
              </a:spcAft>
            </a:pPr>
            <a:r>
              <a:rPr sz="1800" b="1" dirty="0">
                <a:solidFill>
                  <a:srgbClr val="1F6FB2"/>
                </a:solidFill>
                <a:latin typeface="Calibri"/>
              </a:rPr>
              <a:t>•  </a:t>
            </a:r>
            <a:r>
              <a:rPr sz="1800" dirty="0" err="1">
                <a:solidFill>
                  <a:srgbClr val="222A33"/>
                </a:solidFill>
                <a:latin typeface="Calibri"/>
              </a:rPr>
              <a:t>Efficient_IT_PIR</a:t>
            </a:r>
            <a:r>
              <a:rPr sz="1800" dirty="0">
                <a:solidFill>
                  <a:srgbClr val="222A33"/>
                </a:solidFill>
                <a:latin typeface="Calibri"/>
              </a:rPr>
              <a:t> averaged over 10 runs; others 1 run.</a:t>
            </a:r>
            <a:endParaRPr sz="1800" dirty="0">
              <a:solidFill>
                <a:srgbClr val="222A33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1000"/>
              </a:spcAft>
            </a:pPr>
            <a:r>
              <a:rPr sz="1800" b="1" dirty="0">
                <a:solidFill>
                  <a:srgbClr val="1F6FB2"/>
                </a:solidFill>
                <a:latin typeface="Calibri"/>
              </a:rPr>
              <a:t>•  </a:t>
            </a:r>
            <a:r>
              <a:rPr sz="1800" dirty="0">
                <a:solidFill>
                  <a:srgbClr val="222A33"/>
                </a:solidFill>
                <a:latin typeface="Calibri"/>
              </a:rPr>
              <a:t>Results saved to time_analysis_results.csv.</a:t>
            </a:r>
            <a:endParaRPr sz="1800" dirty="0">
              <a:solidFill>
                <a:srgbClr val="222A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98079" y="1737360"/>
            <a:ext cx="4069080" cy="36576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192024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E2A47"/>
                </a:solidFill>
                <a:latin typeface="Calibri"/>
              </a:rPr>
              <a:t>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423160"/>
            <a:ext cx="3703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6A08E"/>
                </a:solidFill>
                <a:latin typeface="Calibri"/>
              </a:rPr>
              <a:t>•  </a:t>
            </a:r>
            <a:r>
              <a:rPr sz="1500">
                <a:solidFill>
                  <a:srgbClr val="222A33"/>
                </a:solidFill>
                <a:latin typeface="Calibri"/>
              </a:rPr>
              <a:t>Python 3, NumPy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6A08E"/>
                </a:solidFill>
                <a:latin typeface="Calibri"/>
              </a:rPr>
              <a:t>•  </a:t>
            </a:r>
            <a:r>
              <a:rPr sz="1500">
                <a:solidFill>
                  <a:srgbClr val="222A33"/>
                </a:solidFill>
                <a:latin typeface="Calibri"/>
              </a:rPr>
              <a:t>Prime fields 2³¹−1 / 2⁶¹−1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6A08E"/>
                </a:solidFill>
                <a:latin typeface="Calibri"/>
              </a:rPr>
              <a:t>•  </a:t>
            </a:r>
            <a:r>
              <a:rPr sz="1500">
                <a:solidFill>
                  <a:srgbClr val="222A33"/>
                </a:solidFill>
                <a:latin typeface="Calibri"/>
              </a:rPr>
              <a:t>Multiprocessing for servers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6A08E"/>
                </a:solidFill>
                <a:latin typeface="Calibri"/>
              </a:rPr>
              <a:t>•  </a:t>
            </a:r>
            <a:r>
              <a:rPr sz="1500">
                <a:solidFill>
                  <a:srgbClr val="222A33"/>
                </a:solidFill>
                <a:latin typeface="Calibri"/>
              </a:rPr>
              <a:t>Correctness checked every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672"/>
                </a:solidFill>
                <a:latin typeface="Calibri"/>
              </a:rPr>
              <a:t>PIR Protocols Based on Secret Sharing  •  IIT Kanpur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67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16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6A08E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Calibri"/>
              </a:rPr>
              <a:t>Results — Query Creation Time (ms)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80160"/>
            <a:ext cx="1463040" cy="38100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7315197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9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5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5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79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N=100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N=1000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N=5000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N=10000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PIR_Additive_SS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0.192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1.659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8.565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16.959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PIR_SSS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0.291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2.654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39.593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26.490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PIR_DPF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0.084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0.108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0.132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0.126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Efficient_IT_PIR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0.133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0.170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0.214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0.229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0" y="1737360"/>
            <a:ext cx="3337560" cy="393192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1874519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E2A47"/>
                </a:solidFill>
                <a:latin typeface="Calibri"/>
              </a:rPr>
              <a:t>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37744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6A08E"/>
                </a:solidFill>
                <a:latin typeface="Calibri"/>
              </a:rPr>
              <a:t>•  </a:t>
            </a:r>
            <a:r>
              <a:rPr sz="1500">
                <a:solidFill>
                  <a:srgbClr val="222A33"/>
                </a:solidFill>
                <a:latin typeface="Calibri"/>
              </a:rPr>
              <a:t>DPF schemes stay sub-0.25 ms — independent of N.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6A08E"/>
                </a:solidFill>
                <a:latin typeface="Calibri"/>
              </a:rPr>
              <a:t>•  </a:t>
            </a:r>
            <a:r>
              <a:rPr sz="1500">
                <a:solidFill>
                  <a:srgbClr val="222A33"/>
                </a:solidFill>
                <a:latin typeface="Calibri"/>
              </a:rPr>
              <a:t>Additive &amp; Shamir scale linearly with N.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6A08E"/>
                </a:solidFill>
                <a:latin typeface="Calibri"/>
              </a:rPr>
              <a:t>•  </a:t>
            </a:r>
            <a:r>
              <a:rPr sz="1500">
                <a:solidFill>
                  <a:srgbClr val="222A33"/>
                </a:solidFill>
                <a:latin typeface="Calibri"/>
              </a:rPr>
              <a:t>Shamir is slowest (polynomial overhead).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7315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A6672"/>
                </a:solidFill>
                <a:latin typeface="Calibri"/>
              </a:rPr>
              <a:t>DPF key generation depends on log₂(N), so query creation is essentially flat; share-based schemes build one share per record.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672"/>
                </a:solidFill>
                <a:latin typeface="Calibri"/>
              </a:rPr>
              <a:t>PIR Protocols Based on Secret Sharing  •  IIT Kanpur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67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16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6A08E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Calibri"/>
              </a:rPr>
              <a:t>Results — Server Computation Time (ms)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80160"/>
            <a:ext cx="1463040" cy="38100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7315197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9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5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5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79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N=100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N=1000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N=5000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N=10000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PIR_Additive_SS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192.6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151.7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154.1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154.9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PIR_SSS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181.9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153.2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166.7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155.4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PIR_DPF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187.8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189.1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360.9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602.5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Efficient_IT_PIR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22.3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251.0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2556.5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5658.7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0" y="1737360"/>
            <a:ext cx="3337560" cy="393192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1874519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E2A47"/>
                </a:solidFill>
                <a:latin typeface="Calibri"/>
              </a:rPr>
              <a:t>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37744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6A08E"/>
                </a:solidFill>
                <a:latin typeface="Calibri"/>
              </a:rPr>
              <a:t>•  </a:t>
            </a:r>
            <a:r>
              <a:rPr sz="1400">
                <a:solidFill>
                  <a:srgbClr val="222A33"/>
                </a:solidFill>
                <a:latin typeface="Calibri"/>
              </a:rPr>
              <a:t>Efficient_IT_PIR: cheapest at tiny N, steepest growth at large N.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6A08E"/>
                </a:solidFill>
                <a:latin typeface="Calibri"/>
              </a:rPr>
              <a:t>•  </a:t>
            </a:r>
            <a:r>
              <a:rPr sz="1400">
                <a:solidFill>
                  <a:srgbClr val="222A33"/>
                </a:solidFill>
                <a:latin typeface="Calibri"/>
              </a:rPr>
              <a:t>Additive/Shamir stay flat (~150 ms) — pool startup dominates.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6A08E"/>
                </a:solidFill>
                <a:latin typeface="Calibri"/>
              </a:rPr>
              <a:t>•  </a:t>
            </a:r>
            <a:r>
              <a:rPr sz="1400">
                <a:solidFill>
                  <a:srgbClr val="222A33"/>
                </a:solidFill>
                <a:latin typeface="Calibri"/>
              </a:rPr>
              <a:t>DPF-2 grows moderately with 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7315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A6672"/>
                </a:solidFill>
                <a:latin typeface="Calibri"/>
              </a:rPr>
              <a:t>Full DPF-tree evaluation across all records makes Efficient_IT_PIR server-heavy as N grows — the price paid for tiny bandwidth.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672"/>
                </a:solidFill>
                <a:latin typeface="Calibri"/>
              </a:rPr>
              <a:t>PIR Protocols Based on Secret Sharing  •  IIT Kanpur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67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16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6A08E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Calibri"/>
              </a:rPr>
              <a:t>Results — Bandwidth Sent (KB)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80160"/>
            <a:ext cx="1463040" cy="38100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7315197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9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5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5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79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N=100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N=1000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N=5000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N=10000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PIR_Additive_SS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2.70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25.95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122.70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249.54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PIR_SSS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2.51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23.60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117.35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234.54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PIR_DPF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12.50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125.00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625.00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1250.00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Efficient_IT_PIR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1.19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1.61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2.03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2.17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0" y="1737360"/>
            <a:ext cx="3337560" cy="393192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1874519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E2A47"/>
                </a:solidFill>
                <a:latin typeface="Calibri"/>
              </a:rPr>
              <a:t>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37744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E18A1B"/>
                </a:solidFill>
                <a:latin typeface="Calibri"/>
              </a:rPr>
              <a:t>•  </a:t>
            </a:r>
            <a:r>
              <a:rPr sz="1400">
                <a:solidFill>
                  <a:srgbClr val="222A33"/>
                </a:solidFill>
                <a:latin typeface="Calibri"/>
              </a:rPr>
              <a:t>Efficient_IT_PIR is the clear winner — grows logarithmically (1–2 KB).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E18A1B"/>
                </a:solidFill>
                <a:latin typeface="Calibri"/>
              </a:rPr>
              <a:t>•  </a:t>
            </a:r>
            <a:r>
              <a:rPr sz="1400">
                <a:solidFill>
                  <a:srgbClr val="222A33"/>
                </a:solidFill>
                <a:latin typeface="Calibri"/>
              </a:rPr>
              <a:t>Additive &amp; Shamir grow linearly with N.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E18A1B"/>
                </a:solidFill>
                <a:latin typeface="Calibri"/>
              </a:rPr>
              <a:t>•  </a:t>
            </a:r>
            <a:r>
              <a:rPr sz="1400">
                <a:solidFill>
                  <a:srgbClr val="222A33"/>
                </a:solidFill>
                <a:latin typeface="Calibri"/>
              </a:rPr>
              <a:t>DPF-2 is the most bandwidth-hungry at large 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7315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A6672"/>
                </a:solidFill>
                <a:latin typeface="Calibri"/>
              </a:rPr>
              <a:t>Only compact DPF keys are sent per server in Efficient_IT_PIR — bandwidth barely moves from N=100 to N=10,000.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672"/>
                </a:solidFill>
                <a:latin typeface="Calibri"/>
              </a:rPr>
              <a:t>PIR Protocols Based on Secret Sharing  •  IIT Kanpur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67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16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6A08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Calibri"/>
              </a:rPr>
              <a:t>Head-to-Head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80160"/>
            <a:ext cx="1463040" cy="38100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5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Criterion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Best Method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22A33"/>
                          </a:solidFill>
                          <a:latin typeface="Calibri"/>
                        </a:rPr>
                        <a:t>Fastest query creation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22A33"/>
                          </a:solidFill>
                          <a:latin typeface="Calibri"/>
                        </a:rPr>
                        <a:t>PIR_DPF  (sub-0.2 ms, constant)</a:t>
                      </a:r>
                    </a:p>
                  </a:txBody>
                  <a:tcPr marL="54864" marR="54864" marT="18288" marB="18288" anchor="ctr">
                    <a:solidFill>
                      <a:srgbClr val="DF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22A33"/>
                          </a:solidFill>
                          <a:latin typeface="Calibri"/>
                        </a:rPr>
                        <a:t>Lowest server time @ small DB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22A33"/>
                          </a:solidFill>
                          <a:latin typeface="Calibri"/>
                        </a:rPr>
                        <a:t>Efficient_IT_PIR  (~22 ms, N=100)</a:t>
                      </a:r>
                    </a:p>
                  </a:txBody>
                  <a:tcPr marL="54864" marR="54864" marT="18288" marB="18288" anchor="ctr">
                    <a:solidFill>
                      <a:srgbClr val="DF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22A33"/>
                          </a:solidFill>
                          <a:latin typeface="Calibri"/>
                        </a:rPr>
                        <a:t>Lowest server time @ large DB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22A33"/>
                          </a:solidFill>
                          <a:latin typeface="Calibri"/>
                        </a:rPr>
                        <a:t>PIR_Additive_SS / PIR_SSS  (~155 ms)</a:t>
                      </a:r>
                    </a:p>
                  </a:txBody>
                  <a:tcPr marL="54864" marR="54864" marT="18288" marB="18288" anchor="ctr">
                    <a:solidFill>
                      <a:srgbClr val="DF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22A33"/>
                          </a:solidFill>
                          <a:latin typeface="Calibri"/>
                        </a:rPr>
                        <a:t>Lowest bandwidth (all sizes)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22A33"/>
                          </a:solidFill>
                          <a:latin typeface="Calibri"/>
                        </a:rPr>
                        <a:t>Efficient_IT_PIR  (1.19 – 2.17 KB)</a:t>
                      </a:r>
                    </a:p>
                  </a:txBody>
                  <a:tcPr marL="54864" marR="54864" marT="18288" marB="18288" anchor="ctr">
                    <a:solidFill>
                      <a:srgbClr val="DF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22A33"/>
                          </a:solidFill>
                          <a:latin typeface="Calibri"/>
                        </a:rPr>
                        <a:t>Fastest reconstruction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22A33"/>
                          </a:solidFill>
                          <a:latin typeface="Calibri"/>
                        </a:rPr>
                        <a:t>PIR_DPF  (&lt; 0.005 ms)</a:t>
                      </a:r>
                    </a:p>
                  </a:txBody>
                  <a:tcPr marL="54864" marR="54864" marT="18288" marB="18288" anchor="ctr">
                    <a:solidFill>
                      <a:srgbClr val="DF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22A33"/>
                          </a:solidFill>
                          <a:latin typeface="Calibri"/>
                        </a:rPr>
                        <a:t>Simplest scheme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22A33"/>
                          </a:solidFill>
                          <a:latin typeface="Calibri"/>
                        </a:rPr>
                        <a:t>PIR_Additive_SS</a:t>
                      </a:r>
                    </a:p>
                  </a:txBody>
                  <a:tcPr marL="54864" marR="54864" marT="18288" marB="18288" anchor="ctr">
                    <a:solidFill>
                      <a:srgbClr val="DF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22A33"/>
                          </a:solidFill>
                          <a:latin typeface="Calibri"/>
                        </a:rPr>
                        <a:t>Most fault-tolerant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22A33"/>
                          </a:solidFill>
                          <a:latin typeface="Calibri"/>
                        </a:rPr>
                        <a:t>PIR_SSS  (threshold reconstruction)</a:t>
                      </a:r>
                    </a:p>
                  </a:txBody>
                  <a:tcPr marL="54864" marR="54864" marT="18288" marB="18288" anchor="ctr">
                    <a:solidFill>
                      <a:srgbClr val="DF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672"/>
                </a:solidFill>
                <a:latin typeface="Calibri"/>
              </a:rPr>
              <a:t>PIR Protocols Based on Secret Sharing  •  IIT Kanpur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672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16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Calibri"/>
              </a:rPr>
              <a:t>Conclusions &amp; 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78992"/>
            <a:ext cx="1463040" cy="38100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1F6FB2"/>
                </a:solidFill>
                <a:latin typeface="Calibri"/>
              </a:rPr>
              <a:t>•  </a:t>
            </a:r>
            <a:r>
              <a:rPr sz="1900">
                <a:solidFill>
                  <a:srgbClr val="222A33"/>
                </a:solidFill>
                <a:latin typeface="Calibri"/>
              </a:rPr>
              <a:t>No single scheme wins everything — PIR is a trade-off space.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F6FB2"/>
                </a:solidFill>
                <a:latin typeface="Calibri"/>
              </a:rPr>
              <a:t>•  </a:t>
            </a:r>
            <a:r>
              <a:rPr sz="1900">
                <a:solidFill>
                  <a:srgbClr val="222A33"/>
                </a:solidFill>
                <a:latin typeface="Calibri"/>
              </a:rPr>
              <a:t>DPF-based schemes dominate client-side cost (query + reconstruction).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F6FB2"/>
                </a:solidFill>
                <a:latin typeface="Calibri"/>
              </a:rPr>
              <a:t>•  </a:t>
            </a:r>
            <a:r>
              <a:rPr sz="1900">
                <a:solidFill>
                  <a:srgbClr val="222A33"/>
                </a:solidFill>
                <a:latin typeface="Calibri"/>
              </a:rPr>
              <a:t>Efficient (2, ℓ)-IT-PIR gives the best communication by far,</a:t>
            </a:r>
          </a:p>
          <a:p>
            <a:pPr lvl="1">
              <a:spcAft>
                <a:spcPts val="1000"/>
              </a:spcAft>
            </a:pPr>
            <a:r>
              <a:rPr sz="1900" b="1">
                <a:solidFill>
                  <a:srgbClr val="16A08E"/>
                </a:solidFill>
                <a:latin typeface="Calibri"/>
              </a:rPr>
              <a:t>–  </a:t>
            </a:r>
            <a:r>
              <a:rPr sz="1800">
                <a:solidFill>
                  <a:srgbClr val="222A33"/>
                </a:solidFill>
                <a:latin typeface="Calibri"/>
              </a:rPr>
              <a:t>but pays with the heaviest server computation as N grows.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F6FB2"/>
                </a:solidFill>
                <a:latin typeface="Calibri"/>
              </a:rPr>
              <a:t>•  </a:t>
            </a:r>
            <a:r>
              <a:rPr sz="1900">
                <a:solidFill>
                  <a:srgbClr val="222A33"/>
                </a:solidFill>
                <a:latin typeface="Calibri"/>
              </a:rPr>
              <a:t>Additive &amp; Shamir have steady server time but bandwidth that scales with N;</a:t>
            </a:r>
          </a:p>
          <a:p>
            <a:pPr lvl="1">
              <a:spcAft>
                <a:spcPts val="1000"/>
              </a:spcAft>
            </a:pPr>
            <a:r>
              <a:rPr sz="1900" b="1">
                <a:solidFill>
                  <a:srgbClr val="16A08E"/>
                </a:solidFill>
                <a:latin typeface="Calibri"/>
              </a:rPr>
              <a:t>–  </a:t>
            </a:r>
            <a:r>
              <a:rPr sz="1800">
                <a:solidFill>
                  <a:srgbClr val="222A33"/>
                </a:solidFill>
                <a:latin typeface="Calibri"/>
              </a:rPr>
              <a:t>Shamir adds fault tolerance via its reconstruction threshold.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F6FB2"/>
                </a:solidFill>
                <a:latin typeface="Calibri"/>
              </a:rPr>
              <a:t>•  </a:t>
            </a:r>
            <a:r>
              <a:rPr sz="1900">
                <a:solidFill>
                  <a:srgbClr val="222A33"/>
                </a:solidFill>
                <a:latin typeface="Calibri"/>
              </a:rPr>
              <a:t>Choice depends on the bottleneck: bandwidth-limited → IT-PIR;</a:t>
            </a:r>
          </a:p>
          <a:p>
            <a:pPr lvl="1">
              <a:spcAft>
                <a:spcPts val="1000"/>
              </a:spcAft>
            </a:pPr>
            <a:r>
              <a:rPr sz="1900" b="1">
                <a:solidFill>
                  <a:srgbClr val="16A08E"/>
                </a:solidFill>
                <a:latin typeface="Calibri"/>
              </a:rPr>
              <a:t>–  </a:t>
            </a:r>
            <a:r>
              <a:rPr sz="1800">
                <a:solidFill>
                  <a:srgbClr val="222A33"/>
                </a:solidFill>
                <a:latin typeface="Calibri"/>
              </a:rPr>
              <a:t>latency / server-limited → Additive;  robustness → Shamir.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672"/>
                </a:solidFill>
                <a:latin typeface="Calibri"/>
              </a:rPr>
              <a:t>PIR Protocols Based on Secret Sharing  •  IIT Kanpur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672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73152"/>
          </a:xfrm>
          <a:prstGeom prst="rect">
            <a:avLst/>
          </a:prstGeom>
          <a:solidFill>
            <a:srgbClr val="16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66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6A08E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2F6FA"/>
                </a:solidFill>
                <a:latin typeface="Calibri"/>
              </a:rPr>
              <a:t>Presented by:  Krishna Kumar Bais  (Roll No. 241110038)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074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2F6FA"/>
                </a:solidFill>
                <a:latin typeface="Calibri"/>
              </a:rPr>
              <a:t>Supervised by:  Prof. Adithya Vadapalli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5778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2F6FA"/>
                </a:solidFill>
                <a:latin typeface="Calibri"/>
              </a:rPr>
              <a:t>Department of CSE, IIT Kanpur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54</cp:revision>
  <dcterms:created xsi:type="dcterms:W3CDTF">2013-01-27T09:14:16Z</dcterms:created>
  <dcterms:modified xsi:type="dcterms:W3CDTF">2026-10-07T10:32:12Z</dcterms:modified>
  <cp:category/>
</cp:coreProperties>
</file>